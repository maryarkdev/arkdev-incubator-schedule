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9" d="100"/>
          <a:sy n="49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6479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— set the tone: this refreshes our client-meeting etiquette for how we actually meet clients today, in person and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 etiquette as clarity of intent, not formality for its own sake. Read the quote.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the details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small things that get noticed: shoes, belt, briefcase, buttons, watch.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 grooming basics from the original deck: breath, teeth, shave, nails, makeup, perfume.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in-person client dress code: clothes, hair, accessories, colors and fabrics.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before-you-walk-in checklist: agenda, moderator, dress code, first-timer intros.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presence: in person and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In-person basics: office visits, doors, handshake.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Restored from the original deck's two door-etiquette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Restored from the original deck's elevator-etiquette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Old deck's etiquette on compliments — don't ask cost, don't brag, don't feel obligated to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Restored from the original deck's miscellaneous-etiquette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Restored from the original deck's two buffet-etiquette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Restored from the original deck's smoking-etiquette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section: camera, lighting, background, mute discipline, 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section: hybrid room courtesies — camera framing, mic discipline, including remote attendees.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working-with-clients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section: cross-cultural etiquette across US, Gulf, Europe.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section: cybersecurity and confidentiality basics for client meetings.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Refresh of the finally-take-care-of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three pillars: prepare, present, protect.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4-4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-6-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-11-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-12-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-13-2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-17-2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1" y="-2095500"/>
            <a:ext cx="6096000" cy="6096000"/>
          </a:xfrm>
          <a:prstGeom prst="ellipse">
            <a:avLst/>
          </a:prstGeom>
          <a:gradFill rotWithShape="1">
            <a:gsLst>
              <a:gs pos="0">
                <a:srgbClr val="F39200">
                  <a:alpha val="22000"/>
                </a:srgbClr>
              </a:gs>
              <a:gs pos="55000">
                <a:srgbClr val="E62D25">
                  <a:alpha val="22000"/>
                </a:srgbClr>
              </a:gs>
              <a:gs pos="75000">
                <a:srgbClr val="E62D2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1143000" y="7810501"/>
            <a:ext cx="4000500" cy="4000500"/>
          </a:xfrm>
          <a:prstGeom prst="ellipse">
            <a:avLst/>
          </a:prstGeom>
          <a:gradFill rotWithShape="1">
            <a:gsLst>
              <a:gs pos="0">
                <a:srgbClr val="97271B">
                  <a:alpha val="14000"/>
                </a:srgbClr>
              </a:gs>
              <a:gs pos="70000">
                <a:srgbClr val="97271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52500"/>
            <a:ext cx="1032206" cy="5333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2500" y="4187362"/>
            <a:ext cx="157162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B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GUIDE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52500" y="4729097"/>
            <a:ext cx="15716251" cy="998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361"/>
              </a:lnSpc>
              <a:buNone/>
            </a:pPr>
            <a:r>
              <a:rPr lang="en-US" sz="72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Meeting Etiquette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952500" y="5955771"/>
            <a:ext cx="12573000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6B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Presence, preparation, and professionalism — in the room and on the call.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952500" y="9027584"/>
            <a:ext cx="2908416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ArkDev · People &amp; Culture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013411" y="9027584"/>
            <a:ext cx="1454299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Edition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148707"/>
            <a:ext cx="933552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B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3766675"/>
            <a:ext cx="8741447" cy="1352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711"/>
              </a:lnSpc>
              <a:buNone/>
            </a:pPr>
            <a:r>
              <a:rPr lang="en-US" sz="45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Etiquette isn't formality. It's clarity.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5423793"/>
            <a:ext cx="8741447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250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code of conduct — written and unwritten — for the behavior clients expect from anyone representing us. It's how we signal that we're organized, attentive, and worth trusting with real work.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0832042" y="3974703"/>
            <a:ext cx="6698563" cy="1495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143"/>
              </a:lnSpc>
              <a:buNone/>
            </a:pPr>
            <a:r>
              <a:rPr lang="en-US" sz="2550" i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“Dress gives the outward sign from which people judge the inward state of mind. One they can see, the other they cannot.”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0832042" y="5698299"/>
            <a:ext cx="6698563" cy="65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Attributed advice to the Prince of Wales, HM Queen Elizabeth II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55000">
                <a:srgbClr val="C2472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4668501" y="7239001"/>
            <a:ext cx="4953000" cy="4953000"/>
          </a:xfrm>
          <a:prstGeom prst="ellipse">
            <a:avLst/>
          </a:prstGeom>
          <a:gradFill rotWithShape="1">
            <a:gsLst>
              <a:gs pos="0">
                <a:srgbClr val="FFFFFF">
                  <a:alpha val="12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952500" y="3580474"/>
            <a:ext cx="180213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52500" y="4018525"/>
            <a:ext cx="16874491" cy="1714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000" b="1" dirty="0">
                <a:solidFill>
                  <a:srgbClr val="FFF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Caring About Details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52500" y="5923194"/>
            <a:ext cx="8829676" cy="821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BD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wear says a lot about you. People assume the quality of your work matches the quality of your appearance.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1" cy="662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Grooming &amp; Polish Checklist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52500" y="1691184"/>
            <a:ext cx="1802130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8A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details clients notice before you say a word.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2594901"/>
            <a:ext cx="5232467" cy="6739599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0583">
            <a:solidFill>
              <a:srgbClr val="ECE1D3"/>
            </a:solidFill>
            <a:prstDash val="solid"/>
          </a:ln>
          <a:effectLst>
            <a:outerShdw blurRad="228600" dist="76200" dir="5400000" algn="bl" rotWithShape="0">
              <a:srgbClr val="97271B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67850" y="2910251"/>
            <a:ext cx="4601766" cy="1714500"/>
          </a:xfrm>
          <a:prstGeom prst="roundRect">
            <a:avLst>
              <a:gd name="adj" fmla="val 3333"/>
            </a:avLst>
          </a:prstGeom>
          <a:solidFill>
            <a:srgbClr val="F3EAE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32620" b="32620"/>
          <a:stretch/>
        </p:blipFill>
        <p:spPr>
          <a:xfrm>
            <a:off x="1267850" y="2910250"/>
            <a:ext cx="4601766" cy="20508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53509" y="5710105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8" name="Text 5"/>
          <p:cNvSpPr/>
          <p:nvPr/>
        </p:nvSpPr>
        <p:spPr>
          <a:xfrm>
            <a:off x="1534418" y="5615351"/>
            <a:ext cx="161309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B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FOOTWEAR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53509" y="6023802"/>
            <a:ext cx="4739819" cy="11528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342900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950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Polished shoes, </a:t>
            </a:r>
            <a:endParaRPr lang="en-US" sz="1950" dirty="0" smtClean="0">
              <a:solidFill>
                <a:srgbClr val="5B4E4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950" dirty="0" smtClean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belt </a:t>
            </a:r>
            <a:r>
              <a:rPr lang="en-US" sz="1950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shoe color, </a:t>
            </a:r>
            <a:endParaRPr lang="en-US" sz="1950" dirty="0" smtClean="0">
              <a:solidFill>
                <a:srgbClr val="5B4E4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950" dirty="0" smtClean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briefcase </a:t>
            </a:r>
            <a:r>
              <a:rPr lang="en-US" sz="1950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to the same standard.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6527767" y="2594901"/>
            <a:ext cx="5232467" cy="6739599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0583">
            <a:solidFill>
              <a:srgbClr val="ECE1D3"/>
            </a:solidFill>
            <a:prstDash val="solid"/>
          </a:ln>
          <a:effectLst>
            <a:outerShdw blurRad="228600" dist="76200" dir="5400000" algn="bl" rotWithShape="0">
              <a:srgbClr val="97271B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43118" y="2910251"/>
            <a:ext cx="4601766" cy="1714500"/>
          </a:xfrm>
          <a:prstGeom prst="roundRect">
            <a:avLst>
              <a:gd name="adj" fmla="val 3333"/>
            </a:avLst>
          </a:prstGeom>
          <a:solidFill>
            <a:srgbClr val="F3EAE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37961" b="37961"/>
          <a:stretch/>
        </p:blipFill>
        <p:spPr>
          <a:xfrm>
            <a:off x="6843118" y="2910250"/>
            <a:ext cx="4601766" cy="205085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928777" y="5710105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4" name="Text 10"/>
          <p:cNvSpPr/>
          <p:nvPr/>
        </p:nvSpPr>
        <p:spPr>
          <a:xfrm>
            <a:off x="7109685" y="5615351"/>
            <a:ext cx="2261758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B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GARMENT CARE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928777" y="6099869"/>
            <a:ext cx="4739819" cy="107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342900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950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 secure, </a:t>
            </a:r>
            <a:endParaRPr lang="en-US" sz="1950" dirty="0" smtClean="0">
              <a:solidFill>
                <a:srgbClr val="5B4E4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950" dirty="0" smtClean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</a:t>
            </a:r>
            <a:r>
              <a:rPr lang="en-US" sz="1950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loose threads, </a:t>
            </a:r>
            <a:endParaRPr lang="en-US" sz="1950" dirty="0" smtClean="0">
              <a:solidFill>
                <a:srgbClr val="5B4E4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950" dirty="0" smtClean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</a:t>
            </a:r>
            <a:r>
              <a:rPr lang="en-US" sz="1950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spots or wrinkles.</a:t>
            </a:r>
            <a:endParaRPr lang="en-US" sz="1950" dirty="0"/>
          </a:p>
        </p:txBody>
      </p:sp>
      <p:sp>
        <p:nvSpPr>
          <p:cNvPr id="16" name="Shape 12"/>
          <p:cNvSpPr/>
          <p:nvPr/>
        </p:nvSpPr>
        <p:spPr>
          <a:xfrm>
            <a:off x="12103035" y="2594901"/>
            <a:ext cx="5232467" cy="6739599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0583">
            <a:solidFill>
              <a:srgbClr val="ECE1D3"/>
            </a:solidFill>
            <a:prstDash val="solid"/>
          </a:ln>
          <a:effectLst>
            <a:outerShdw blurRad="228600" dist="76200" dir="5400000" algn="bl" rotWithShape="0">
              <a:srgbClr val="97271B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2418385" y="2910250"/>
            <a:ext cx="4601766" cy="2050855"/>
          </a:xfrm>
          <a:prstGeom prst="roundRect">
            <a:avLst>
              <a:gd name="adj" fmla="val 3333"/>
            </a:avLst>
          </a:prstGeom>
          <a:gradFill rotWithShape="1">
            <a:gsLst>
              <a:gs pos="0">
                <a:srgbClr val="FDEBD8">
                  <a:alpha val="100000"/>
                </a:srgbClr>
              </a:gs>
              <a:gs pos="100000">
                <a:srgbClr val="F8D5BC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4262034" y="3310268"/>
            <a:ext cx="914301" cy="914301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2504044" y="5710105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0" name="Text 15"/>
          <p:cNvSpPr/>
          <p:nvPr/>
        </p:nvSpPr>
        <p:spPr>
          <a:xfrm>
            <a:off x="12684953" y="5615351"/>
            <a:ext cx="985705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B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2504044" y="6023801"/>
            <a:ext cx="4739819" cy="138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950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 a watch. </a:t>
            </a:r>
            <a:endParaRPr lang="en-US" sz="1950" dirty="0" smtClean="0">
              <a:solidFill>
                <a:srgbClr val="5B4E4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950" dirty="0" smtClean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</a:t>
            </a:r>
            <a:r>
              <a:rPr lang="en-US" sz="1950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schedules — promptness counts, visibly.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33" y="3810000"/>
            <a:ext cx="2667000" cy="2667000"/>
          </a:xfrm>
          <a:prstGeom prst="ellipse">
            <a:avLst/>
          </a:prstGeom>
          <a:gradFill rotWithShape="1">
            <a:gsLst>
              <a:gs pos="0">
                <a:srgbClr val="FDEBD8">
                  <a:alpha val="100000"/>
                </a:srgbClr>
              </a:gs>
              <a:gs pos="100000">
                <a:srgbClr val="F8D5BC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409983" y="4476750"/>
            <a:ext cx="1333500" cy="133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62966" y="3674236"/>
            <a:ext cx="1030978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Mouth Also Counts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7962966" y="4474270"/>
            <a:ext cx="10309788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8A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hygiene details clients notice up close.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7962966" y="5149288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7" name="Text 4"/>
          <p:cNvSpPr/>
          <p:nvPr/>
        </p:nvSpPr>
        <p:spPr>
          <a:xfrm>
            <a:off x="8200926" y="5073221"/>
            <a:ext cx="4424717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 your breath — watch coffee, garlic, smoking.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12801535" y="5149288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9" name="Text 6"/>
          <p:cNvSpPr/>
          <p:nvPr/>
        </p:nvSpPr>
        <p:spPr>
          <a:xfrm>
            <a:off x="13039494" y="5073221"/>
            <a:ext cx="186266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 your nails.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7962966" y="5995128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1" name="Text 8"/>
          <p:cNvSpPr/>
          <p:nvPr/>
        </p:nvSpPr>
        <p:spPr>
          <a:xfrm>
            <a:off x="8200926" y="5919060"/>
            <a:ext cx="4424717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Shave, or keep facial hair neatly groomed.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12801535" y="5995128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3" name="Text 10"/>
          <p:cNvSpPr/>
          <p:nvPr/>
        </p:nvSpPr>
        <p:spPr>
          <a:xfrm>
            <a:off x="13039494" y="5919060"/>
            <a:ext cx="4424887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light on makeup and perfume or cologne.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786724"/>
            <a:ext cx="6704013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Dress Code — In Person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952500" y="4234326"/>
            <a:ext cx="7159625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8A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semi-formal, every time.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4833276"/>
            <a:ext cx="2000250" cy="2667000"/>
          </a:xfrm>
          <a:prstGeom prst="roundRect">
            <a:avLst>
              <a:gd name="adj" fmla="val 3810"/>
            </a:avLst>
          </a:prstGeom>
          <a:solidFill>
            <a:srgbClr val="F3EAE0"/>
          </a:solidFill>
          <a:ln/>
          <a:effectLst>
            <a:outerShdw blurRad="228600" dist="76200" dir="5400000" algn="bl" rotWithShape="0">
              <a:srgbClr val="97271B">
                <a:alpha val="2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2155" r="2155"/>
          <a:stretch/>
        </p:blipFill>
        <p:spPr>
          <a:xfrm>
            <a:off x="952500" y="4833276"/>
            <a:ext cx="2000250" cy="2667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3250" y="2190750"/>
            <a:ext cx="9112250" cy="10583"/>
          </a:xfrm>
          <a:prstGeom prst="rect">
            <a:avLst/>
          </a:prstGeom>
          <a:solidFill>
            <a:srgbClr val="ECE1D3"/>
          </a:solidFill>
          <a:ln/>
        </p:spPr>
      </p:sp>
      <p:sp>
        <p:nvSpPr>
          <p:cNvPr id="7" name="Text 4"/>
          <p:cNvSpPr/>
          <p:nvPr/>
        </p:nvSpPr>
        <p:spPr>
          <a:xfrm>
            <a:off x="8223250" y="1200051"/>
            <a:ext cx="1790700" cy="78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242518" y="1200051"/>
            <a:ext cx="7305773" cy="78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Suits, pantsuits, blazers with shirts or blouses. Knee-length skirts, shirts tucked in.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8223250" y="3068009"/>
            <a:ext cx="9112250" cy="10583"/>
          </a:xfrm>
          <a:prstGeom prst="rect">
            <a:avLst/>
          </a:prstGeom>
          <a:solidFill>
            <a:srgbClr val="ECE1D3"/>
          </a:solidFill>
          <a:ln/>
        </p:spPr>
      </p:sp>
      <p:sp>
        <p:nvSpPr>
          <p:cNvPr id="10" name="Text 7"/>
          <p:cNvSpPr/>
          <p:nvPr/>
        </p:nvSpPr>
        <p:spPr>
          <a:xfrm>
            <a:off x="8223250" y="2448884"/>
            <a:ext cx="1790700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242518" y="2448884"/>
            <a:ext cx="4243024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Neat, combed, simple and natural.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8223250" y="4316843"/>
            <a:ext cx="9112250" cy="10583"/>
          </a:xfrm>
          <a:prstGeom prst="rect">
            <a:avLst/>
          </a:prstGeom>
          <a:solidFill>
            <a:srgbClr val="ECE1D3"/>
          </a:solidFill>
          <a:ln/>
        </p:spPr>
      </p:sp>
      <p:sp>
        <p:nvSpPr>
          <p:cNvPr id="13" name="Text 10"/>
          <p:cNvSpPr/>
          <p:nvPr/>
        </p:nvSpPr>
        <p:spPr>
          <a:xfrm>
            <a:off x="8223250" y="3326143"/>
            <a:ext cx="1790700" cy="78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Accessories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242518" y="3326143"/>
            <a:ext cx="7305773" cy="78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earrings, minimal jewelry, only a watch and essential rings. Socks match trousers.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8223250" y="4574977"/>
            <a:ext cx="1790700" cy="78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 &amp; Fabric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242518" y="4574977"/>
            <a:ext cx="7305773" cy="78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tones — no bright or fluorescent colors. Structured fabrics; skip cotton and denim.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1" cy="662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Prep — Before You Walk In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52500" y="1691184"/>
            <a:ext cx="1802130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8A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to, every time: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5059991"/>
            <a:ext cx="394196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gradFill rotWithShape="1">
                  <a:gsLst>
                    <a:gs pos="0">
                      <a:srgbClr val="F39200">
                        <a:alpha val="100000"/>
                      </a:srgbClr>
                    </a:gs>
                    <a:gs pos="100000">
                      <a:srgbClr val="97271B">
                        <a:alpha val="100000"/>
                      </a:srgbClr>
                    </a:gs>
                  </a:gsLst>
                  <a:lin ang="27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460996" y="5059991"/>
            <a:ext cx="6018014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250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and share the agenda in advance.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448767" y="5059991"/>
            <a:ext cx="394196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gradFill rotWithShape="1">
                  <a:gsLst>
                    <a:gs pos="0">
                      <a:srgbClr val="F39200">
                        <a:alpha val="100000"/>
                      </a:srgbClr>
                    </a:gs>
                    <a:gs pos="100000">
                      <a:srgbClr val="97271B">
                        <a:alpha val="100000"/>
                      </a:srgbClr>
                    </a:gs>
                  </a:gsLst>
                  <a:lin ang="27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957263" y="5059991"/>
            <a:ext cx="5165990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250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a moderator to run the room.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52500" y="5726576"/>
            <a:ext cx="394196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gradFill rotWithShape="1">
                  <a:gsLst>
                    <a:gs pos="0">
                      <a:srgbClr val="F39200">
                        <a:alpha val="100000"/>
                      </a:srgbClr>
                    </a:gs>
                    <a:gs pos="100000">
                      <a:srgbClr val="97271B">
                        <a:alpha val="100000"/>
                      </a:srgbClr>
                    </a:gs>
                  </a:gsLst>
                  <a:lin ang="27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460996" y="5726576"/>
            <a:ext cx="6263944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250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dress code: formal or smart casual.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448767" y="5726576"/>
            <a:ext cx="394196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gradFill rotWithShape="1">
                  <a:gsLst>
                    <a:gs pos="0">
                      <a:srgbClr val="F39200">
                        <a:alpha val="100000"/>
                      </a:srgbClr>
                    </a:gs>
                    <a:gs pos="100000">
                      <a:srgbClr val="97271B">
                        <a:alpha val="100000"/>
                      </a:srgbClr>
                    </a:gs>
                  </a:gsLst>
                  <a:lin ang="27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957263" y="5726576"/>
            <a:ext cx="7681499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250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time meeting? Introduce yourself and your team.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52500" y="6393160"/>
            <a:ext cx="394196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gradFill rotWithShape="1">
                  <a:gsLst>
                    <a:gs pos="0">
                      <a:srgbClr val="F39200">
                        <a:alpha val="100000"/>
                      </a:srgbClr>
                    </a:gs>
                    <a:gs pos="100000">
                      <a:srgbClr val="97271B">
                        <a:alpha val="100000"/>
                      </a:srgbClr>
                    </a:gs>
                  </a:gsLst>
                  <a:lin ang="27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460996" y="6393160"/>
            <a:ext cx="7526156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250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side conversations while someone else is talking.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448767" y="6393160"/>
            <a:ext cx="394196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gradFill rotWithShape="1">
                  <a:gsLst>
                    <a:gs pos="0">
                      <a:srgbClr val="F39200">
                        <a:alpha val="100000"/>
                      </a:srgbClr>
                    </a:gs>
                    <a:gs pos="100000">
                      <a:srgbClr val="97271B">
                        <a:alpha val="100000"/>
                      </a:srgbClr>
                    </a:gs>
                  </a:gsLst>
                  <a:lin ang="27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957263" y="6393160"/>
            <a:ext cx="5875949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250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 — it's not your phone's time.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55000">
                <a:srgbClr val="C2472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1333500" y="-1905000"/>
            <a:ext cx="4953000" cy="4953000"/>
          </a:xfrm>
          <a:prstGeom prst="ellipse">
            <a:avLst/>
          </a:prstGeom>
          <a:gradFill rotWithShape="1">
            <a:gsLst>
              <a:gs pos="0">
                <a:srgbClr val="FFFFFF">
                  <a:alpha val="12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952500" y="3580474"/>
            <a:ext cx="180213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52500" y="4018525"/>
            <a:ext cx="16874491" cy="1714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000" b="1" dirty="0">
                <a:solidFill>
                  <a:srgbClr val="FFF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Presence, In Person and On Screen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52500" y="5923194"/>
            <a:ext cx="9810751" cy="821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BD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client meetings today happen over video, not across a table. The courtesies have to travel with us.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1" cy="662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Meeting-Room Courtesies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52500" y="2033984"/>
            <a:ext cx="5207000" cy="142875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FDEBD8">
                  <a:alpha val="100000"/>
                </a:srgbClr>
              </a:gs>
              <a:gs pos="100000">
                <a:srgbClr val="F8D5BC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3216837" y="2399110"/>
            <a:ext cx="75436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gradFill rotWithShape="1">
                  <a:gsLst>
                    <a:gs pos="0">
                      <a:srgbClr val="F39200">
                        <a:alpha val="100000"/>
                      </a:srgbClr>
                    </a:gs>
                    <a:gs pos="100000">
                      <a:srgbClr val="97271B">
                        <a:alpha val="100000"/>
                      </a:srgbClr>
                    </a:gs>
                  </a:gsLst>
                  <a:lin ang="27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3615035"/>
            <a:ext cx="572770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" y="4042502"/>
            <a:ext cx="5363210" cy="2085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342900" indent="-342900" algn="l">
              <a:lnSpc>
                <a:spcPct val="134518"/>
              </a:lnSpc>
              <a:buFont typeface="Arial" panose="020B0604020202020204" pitchFamily="34" charset="0"/>
              <a:buChar char="•"/>
            </a:pPr>
            <a:r>
              <a:rPr lang="en-US" sz="2025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be late. If you are, apologize and explain. </a:t>
            </a:r>
            <a:endParaRPr lang="en-US" sz="2025" dirty="0" smtClean="0">
              <a:solidFill>
                <a:srgbClr val="5B4E4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34518"/>
              </a:lnSpc>
              <a:buFont typeface="Arial" panose="020B0604020202020204" pitchFamily="34" charset="0"/>
              <a:buChar char="•"/>
            </a:pPr>
            <a:r>
              <a:rPr lang="en-US" sz="2025" dirty="0" smtClean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</a:t>
            </a:r>
            <a:r>
              <a:rPr lang="en-US" sz="2025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business card if you have one.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6540500" y="2033984"/>
            <a:ext cx="5207000" cy="142875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FDEBD8">
                  <a:alpha val="100000"/>
                </a:srgbClr>
              </a:gs>
              <a:gs pos="100000">
                <a:srgbClr val="F8D5BC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8" name="Text 6"/>
          <p:cNvSpPr/>
          <p:nvPr/>
        </p:nvSpPr>
        <p:spPr>
          <a:xfrm>
            <a:off x="8804838" y="2399110"/>
            <a:ext cx="75436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gradFill rotWithShape="1">
                  <a:gsLst>
                    <a:gs pos="0">
                      <a:srgbClr val="F39200">
                        <a:alpha val="100000"/>
                      </a:srgbClr>
                    </a:gs>
                    <a:gs pos="100000">
                      <a:srgbClr val="97271B">
                        <a:alpha val="100000"/>
                      </a:srgbClr>
                    </a:gs>
                  </a:gsLst>
                  <a:lin ang="27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540500" y="3615035"/>
            <a:ext cx="572770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Their Space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40500" y="4042503"/>
            <a:ext cx="5363210" cy="2085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342900" indent="-342900" algn="l">
              <a:lnSpc>
                <a:spcPct val="134518"/>
              </a:lnSpc>
              <a:buFont typeface="Arial" panose="020B0604020202020204" pitchFamily="34" charset="0"/>
              <a:buChar char="•"/>
            </a:pPr>
            <a:r>
              <a:rPr lang="en-US" sz="2025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your jacket on. </a:t>
            </a:r>
            <a:endParaRPr lang="en-US" sz="2025" dirty="0" smtClean="0">
              <a:solidFill>
                <a:srgbClr val="5B4E4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34518"/>
              </a:lnSpc>
              <a:buFont typeface="Arial" panose="020B0604020202020204" pitchFamily="34" charset="0"/>
              <a:buChar char="•"/>
            </a:pPr>
            <a:r>
              <a:rPr lang="en-US" sz="2025" dirty="0" smtClean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 </a:t>
            </a:r>
            <a:r>
              <a:rPr lang="en-US" sz="2025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floor or your lap. </a:t>
            </a:r>
            <a:endParaRPr lang="en-US" sz="2025" dirty="0" smtClean="0">
              <a:solidFill>
                <a:srgbClr val="5B4E4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34518"/>
              </a:lnSpc>
              <a:buFont typeface="Arial" panose="020B0604020202020204" pitchFamily="34" charset="0"/>
              <a:buChar char="•"/>
            </a:pPr>
            <a:r>
              <a:rPr lang="en-US" sz="2025" dirty="0" smtClean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</a:t>
            </a:r>
            <a:r>
              <a:rPr lang="en-US" sz="2025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things on someone else's desk.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2128500" y="2033984"/>
            <a:ext cx="5207000" cy="1428750"/>
          </a:xfrm>
          <a:prstGeom prst="roundRect">
            <a:avLst>
              <a:gd name="adj" fmla="val 4000"/>
            </a:avLst>
          </a:prstGeom>
          <a:solidFill>
            <a:srgbClr val="F3EAE0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29207" r="-29207"/>
          <a:stretch/>
        </p:blipFill>
        <p:spPr>
          <a:xfrm>
            <a:off x="12128500" y="1919718"/>
            <a:ext cx="5207000" cy="16572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128500" y="3615035"/>
            <a:ext cx="572770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Handshake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128500" y="4042503"/>
            <a:ext cx="5363210" cy="2630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342900" indent="-342900" algn="l">
              <a:lnSpc>
                <a:spcPct val="134518"/>
              </a:lnSpc>
              <a:buFont typeface="Arial" panose="020B0604020202020204" pitchFamily="34" charset="0"/>
              <a:buChar char="•"/>
            </a:pPr>
            <a:r>
              <a:rPr lang="en-US" sz="2025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 but painless, </a:t>
            </a:r>
            <a:endParaRPr lang="en-US" sz="2025" dirty="0" smtClean="0">
              <a:solidFill>
                <a:srgbClr val="5B4E4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34518"/>
              </a:lnSpc>
              <a:buFont typeface="Arial" panose="020B0604020202020204" pitchFamily="34" charset="0"/>
              <a:buChar char="•"/>
            </a:pPr>
            <a:r>
              <a:rPr lang="en-US" sz="2025" dirty="0" smtClean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</a:t>
            </a:r>
            <a:r>
              <a:rPr lang="en-US" sz="2025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contact, about three seconds — </a:t>
            </a:r>
            <a:endParaRPr lang="en-US" sz="2025" dirty="0" smtClean="0">
              <a:solidFill>
                <a:srgbClr val="5B4E4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34518"/>
              </a:lnSpc>
              <a:buFont typeface="Arial" panose="020B0604020202020204" pitchFamily="34" charset="0"/>
              <a:buChar char="•"/>
            </a:pPr>
            <a:r>
              <a:rPr lang="en-US" sz="2025" dirty="0" smtClean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</a:t>
            </a:r>
            <a:r>
              <a:rPr lang="en-US" sz="2025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three pumps, no more.</a:t>
            </a:r>
            <a:endParaRPr lang="en-US" sz="20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33" y="3810000"/>
            <a:ext cx="2667000" cy="2667000"/>
          </a:xfrm>
          <a:prstGeom prst="ellipse">
            <a:avLst/>
          </a:prstGeom>
          <a:gradFill rotWithShape="1">
            <a:gsLst>
              <a:gs pos="0">
                <a:srgbClr val="FDEBD8">
                  <a:alpha val="100000"/>
                </a:srgbClr>
              </a:gs>
              <a:gs pos="100000">
                <a:srgbClr val="F8D5BC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165778" y="4194412"/>
            <a:ext cx="1821910" cy="18219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62966" y="3716900"/>
            <a:ext cx="1030978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Doors</a:t>
            </a:r>
            <a:endParaRPr lang="en-US" sz="3900" dirty="0"/>
          </a:p>
        </p:txBody>
      </p:sp>
      <p:sp>
        <p:nvSpPr>
          <p:cNvPr id="5" name="Shape 2"/>
          <p:cNvSpPr/>
          <p:nvPr/>
        </p:nvSpPr>
        <p:spPr>
          <a:xfrm>
            <a:off x="7962966" y="5219568"/>
            <a:ext cx="9372534" cy="10583"/>
          </a:xfrm>
          <a:prstGeom prst="rect">
            <a:avLst/>
          </a:prstGeom>
          <a:solidFill>
            <a:srgbClr val="ECE1D3"/>
          </a:solidFill>
          <a:ln/>
        </p:spPr>
      </p:sp>
      <p:sp>
        <p:nvSpPr>
          <p:cNvPr id="6" name="Shape 3"/>
          <p:cNvSpPr/>
          <p:nvPr/>
        </p:nvSpPr>
        <p:spPr>
          <a:xfrm>
            <a:off x="7962966" y="4707268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7" name="Text 4"/>
          <p:cNvSpPr/>
          <p:nvPr/>
        </p:nvSpPr>
        <p:spPr>
          <a:xfrm>
            <a:off x="8277159" y="4707268"/>
            <a:ext cx="8429841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500"/>
              </a:lnSpc>
              <a:buNone/>
            </a:pPr>
            <a:r>
              <a:rPr lang="en-US" sz="2025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to reach it? Open, go through, hold it — regardless of gender.</a:t>
            </a:r>
            <a:endParaRPr lang="en-US" sz="2025" dirty="0"/>
          </a:p>
        </p:txBody>
      </p:sp>
      <p:sp>
        <p:nvSpPr>
          <p:cNvPr id="8" name="Shape 5"/>
          <p:cNvSpPr/>
          <p:nvPr/>
        </p:nvSpPr>
        <p:spPr>
          <a:xfrm>
            <a:off x="7962966" y="5894751"/>
            <a:ext cx="9372534" cy="10583"/>
          </a:xfrm>
          <a:prstGeom prst="rect">
            <a:avLst/>
          </a:prstGeom>
          <a:solidFill>
            <a:srgbClr val="ECE1D3"/>
          </a:solidFill>
          <a:ln/>
        </p:spPr>
      </p:sp>
      <p:sp>
        <p:nvSpPr>
          <p:cNvPr id="9" name="Shape 6"/>
          <p:cNvSpPr/>
          <p:nvPr/>
        </p:nvSpPr>
        <p:spPr>
          <a:xfrm>
            <a:off x="7962966" y="5382452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0" name="Text 7"/>
          <p:cNvSpPr/>
          <p:nvPr/>
        </p:nvSpPr>
        <p:spPr>
          <a:xfrm>
            <a:off x="8277159" y="5382452"/>
            <a:ext cx="6545163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500"/>
              </a:lnSpc>
              <a:buNone/>
            </a:pPr>
            <a:r>
              <a:rPr lang="en-US" sz="2025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senior executive? Let them go through first.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962966" y="6057635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2" name="Text 9"/>
          <p:cNvSpPr/>
          <p:nvPr/>
        </p:nvSpPr>
        <p:spPr>
          <a:xfrm>
            <a:off x="8277159" y="6057635"/>
            <a:ext cx="6091502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500"/>
              </a:lnSpc>
              <a:buNone/>
            </a:pPr>
            <a:r>
              <a:rPr lang="en-US" sz="2025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Someone's arms full? Hold it, regardless of role.</a:t>
            </a:r>
            <a:endParaRPr lang="en-US" sz="20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33" y="3810000"/>
            <a:ext cx="2667000" cy="2667000"/>
          </a:xfrm>
          <a:prstGeom prst="ellipse">
            <a:avLst/>
          </a:prstGeom>
          <a:gradFill rotWithShape="1">
            <a:gsLst>
              <a:gs pos="0">
                <a:srgbClr val="FDEBD8">
                  <a:alpha val="100000"/>
                </a:srgbClr>
              </a:gs>
              <a:gs pos="100000">
                <a:srgbClr val="F8D5BC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076608" y="4105242"/>
            <a:ext cx="2000250" cy="2000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62966" y="3716900"/>
            <a:ext cx="1030978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Elevators</a:t>
            </a:r>
            <a:endParaRPr lang="en-US" sz="3900" dirty="0"/>
          </a:p>
        </p:txBody>
      </p:sp>
      <p:sp>
        <p:nvSpPr>
          <p:cNvPr id="5" name="Shape 2"/>
          <p:cNvSpPr/>
          <p:nvPr/>
        </p:nvSpPr>
        <p:spPr>
          <a:xfrm>
            <a:off x="7962966" y="5219568"/>
            <a:ext cx="9372534" cy="10583"/>
          </a:xfrm>
          <a:prstGeom prst="rect">
            <a:avLst/>
          </a:prstGeom>
          <a:solidFill>
            <a:srgbClr val="ECE1D3"/>
          </a:solidFill>
          <a:ln/>
        </p:spPr>
      </p:sp>
      <p:sp>
        <p:nvSpPr>
          <p:cNvPr id="6" name="Shape 3"/>
          <p:cNvSpPr/>
          <p:nvPr/>
        </p:nvSpPr>
        <p:spPr>
          <a:xfrm>
            <a:off x="7962966" y="4707268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7" name="Text 4"/>
          <p:cNvSpPr/>
          <p:nvPr/>
        </p:nvSpPr>
        <p:spPr>
          <a:xfrm>
            <a:off x="8277159" y="4707268"/>
            <a:ext cx="6877133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500"/>
              </a:lnSpc>
              <a:buNone/>
            </a:pPr>
            <a:r>
              <a:rPr lang="en-US" sz="2025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the door? Board first, hold it till everyone's in.</a:t>
            </a:r>
            <a:endParaRPr lang="en-US" sz="2025" dirty="0"/>
          </a:p>
        </p:txBody>
      </p:sp>
      <p:sp>
        <p:nvSpPr>
          <p:cNvPr id="8" name="Shape 5"/>
          <p:cNvSpPr/>
          <p:nvPr/>
        </p:nvSpPr>
        <p:spPr>
          <a:xfrm>
            <a:off x="7962966" y="5894751"/>
            <a:ext cx="9372534" cy="10583"/>
          </a:xfrm>
          <a:prstGeom prst="rect">
            <a:avLst/>
          </a:prstGeom>
          <a:solidFill>
            <a:srgbClr val="ECE1D3"/>
          </a:solidFill>
          <a:ln/>
        </p:spPr>
      </p:sp>
      <p:sp>
        <p:nvSpPr>
          <p:cNvPr id="9" name="Shape 6"/>
          <p:cNvSpPr/>
          <p:nvPr/>
        </p:nvSpPr>
        <p:spPr>
          <a:xfrm>
            <a:off x="7962966" y="5382452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0" name="Text 7"/>
          <p:cNvSpPr/>
          <p:nvPr/>
        </p:nvSpPr>
        <p:spPr>
          <a:xfrm>
            <a:off x="8277159" y="5382452"/>
            <a:ext cx="6815469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500"/>
              </a:lnSpc>
              <a:buNone/>
            </a:pPr>
            <a:r>
              <a:rPr lang="en-US" sz="2025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the panel? Ask floors, press them for others.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962966" y="6057635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2" name="Text 9"/>
          <p:cNvSpPr/>
          <p:nvPr/>
        </p:nvSpPr>
        <p:spPr>
          <a:xfrm>
            <a:off x="8277159" y="6057635"/>
            <a:ext cx="8143710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500"/>
              </a:lnSpc>
              <a:buNone/>
            </a:pPr>
            <a:r>
              <a:rPr lang="en-US" sz="2025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the door on exit? Step out, let others off, then reboard.</a:t>
            </a:r>
            <a:endParaRPr lang="en-US" sz="20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436442"/>
            <a:ext cx="1030978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Words on Complimenting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952500" y="4236475"/>
            <a:ext cx="10309788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8A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in, graceful out.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5500026"/>
            <a:ext cx="9372534" cy="10583"/>
          </a:xfrm>
          <a:prstGeom prst="rect">
            <a:avLst/>
          </a:prstGeom>
          <a:solidFill>
            <a:srgbClr val="ECE1D3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4987727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1266693" y="4987727"/>
            <a:ext cx="6804373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500"/>
              </a:lnSpc>
              <a:buNone/>
            </a:pPr>
            <a:r>
              <a:rPr lang="en-US" sz="2025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ask what something cost, or where they got it.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52500" y="5662910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9" name="Text 7"/>
          <p:cNvSpPr/>
          <p:nvPr/>
        </p:nvSpPr>
        <p:spPr>
          <a:xfrm>
            <a:off x="1266693" y="5662910"/>
            <a:ext cx="5983453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500"/>
              </a:lnSpc>
              <a:buNone/>
            </a:pPr>
            <a:r>
              <a:rPr lang="en-US" sz="2025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brag about your own price tags or labels.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52500" y="6338094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1" name="Text 9"/>
          <p:cNvSpPr/>
          <p:nvPr/>
        </p:nvSpPr>
        <p:spPr>
          <a:xfrm>
            <a:off x="1266693" y="6338094"/>
            <a:ext cx="6003098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500"/>
              </a:lnSpc>
              <a:buNone/>
            </a:pPr>
            <a:r>
              <a:rPr lang="en-US" sz="2025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Complimented? A simple thank-you is enough.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2877767" y="3810000"/>
            <a:ext cx="2667000" cy="2667000"/>
          </a:xfrm>
          <a:prstGeom prst="ellipse">
            <a:avLst/>
          </a:prstGeom>
          <a:gradFill rotWithShape="1">
            <a:gsLst>
              <a:gs pos="0">
                <a:srgbClr val="FDEBD8">
                  <a:alpha val="100000"/>
                </a:srgbClr>
              </a:gs>
              <a:gs pos="100000">
                <a:srgbClr val="F8D5BC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3544517" y="4476750"/>
            <a:ext cx="13335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1" cy="662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Miscellaneous Courtesies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52500" y="5659934"/>
            <a:ext cx="7886734" cy="10583"/>
          </a:xfrm>
          <a:prstGeom prst="rect">
            <a:avLst/>
          </a:prstGeom>
          <a:solidFill>
            <a:srgbClr val="ECE1D3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5082811"/>
            <a:ext cx="8123336" cy="42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71"/>
              </a:lnSpc>
              <a:buNone/>
            </a:pPr>
            <a:r>
              <a:rPr lang="en-US" sz="2175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bathroom habits out of the conversation.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448767" y="5659934"/>
            <a:ext cx="7886734" cy="10583"/>
          </a:xfrm>
          <a:prstGeom prst="rect">
            <a:avLst/>
          </a:prstGeom>
          <a:solidFill>
            <a:srgbClr val="ECE1D3"/>
          </a:solidFill>
          <a:ln/>
        </p:spPr>
      </p:sp>
      <p:sp>
        <p:nvSpPr>
          <p:cNvPr id="6" name="Text 4"/>
          <p:cNvSpPr/>
          <p:nvPr/>
        </p:nvSpPr>
        <p:spPr>
          <a:xfrm>
            <a:off x="9448767" y="5082811"/>
            <a:ext cx="8123336" cy="42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71"/>
              </a:lnSpc>
              <a:buNone/>
            </a:pPr>
            <a:r>
              <a:rPr lang="en-US" sz="2175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put-on-the-spot questions ("Why do you ask?").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952500" y="5899051"/>
            <a:ext cx="8675407" cy="42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71"/>
              </a:lnSpc>
              <a:buNone/>
            </a:pPr>
            <a:r>
              <a:rPr lang="en-US" sz="2175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a sneeze.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9448767" y="5899051"/>
            <a:ext cx="8675407" cy="42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71"/>
              </a:lnSpc>
              <a:buNone/>
            </a:pPr>
            <a:r>
              <a:rPr lang="en-US" sz="2175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please, thank you, and excuse me — always.</a:t>
            </a:r>
            <a:endParaRPr lang="en-US" sz="21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1" cy="662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Buffet Etiquette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52500" y="5659934"/>
            <a:ext cx="7886734" cy="10583"/>
          </a:xfrm>
          <a:prstGeom prst="rect">
            <a:avLst/>
          </a:prstGeom>
          <a:solidFill>
            <a:srgbClr val="ECE1D3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5082811"/>
            <a:ext cx="8123336" cy="42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71"/>
              </a:lnSpc>
              <a:buNone/>
            </a:pPr>
            <a:r>
              <a:rPr lang="en-US" sz="2175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patient — queue, don't cut the line.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448767" y="5659934"/>
            <a:ext cx="7886734" cy="10583"/>
          </a:xfrm>
          <a:prstGeom prst="rect">
            <a:avLst/>
          </a:prstGeom>
          <a:solidFill>
            <a:srgbClr val="ECE1D3"/>
          </a:solidFill>
          <a:ln/>
        </p:spPr>
      </p:sp>
      <p:sp>
        <p:nvSpPr>
          <p:cNvPr id="6" name="Text 4"/>
          <p:cNvSpPr/>
          <p:nvPr/>
        </p:nvSpPr>
        <p:spPr>
          <a:xfrm>
            <a:off x="9448767" y="5082811"/>
            <a:ext cx="8123336" cy="42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71"/>
              </a:lnSpc>
              <a:buNone/>
            </a:pPr>
            <a:r>
              <a:rPr lang="en-US" sz="2175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serving spoon, not your hands.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952500" y="5899051"/>
            <a:ext cx="8675407" cy="42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71"/>
              </a:lnSpc>
              <a:buNone/>
            </a:pPr>
            <a:r>
              <a:rPr lang="en-US" sz="2175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small portion first — go back for more.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9448767" y="5899051"/>
            <a:ext cx="8675407" cy="42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71"/>
              </a:lnSpc>
              <a:buNone/>
            </a:pPr>
            <a:r>
              <a:rPr lang="en-US" sz="2175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plate per course; dessert and seafood separate.</a:t>
            </a:r>
            <a:endParaRPr lang="en-US" sz="21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33" y="3810000"/>
            <a:ext cx="2667000" cy="2667000"/>
          </a:xfrm>
          <a:prstGeom prst="ellipse">
            <a:avLst/>
          </a:prstGeom>
          <a:gradFill rotWithShape="1">
            <a:gsLst>
              <a:gs pos="0">
                <a:srgbClr val="FDEBD8">
                  <a:alpha val="100000"/>
                </a:srgbClr>
              </a:gs>
              <a:gs pos="100000">
                <a:srgbClr val="F8D5BC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409983" y="4476750"/>
            <a:ext cx="1333500" cy="133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62966" y="4349089"/>
            <a:ext cx="1030978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Smoking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7962966" y="5111089"/>
            <a:ext cx="8829676" cy="864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690"/>
              </a:lnSpc>
              <a:buNone/>
            </a:pPr>
            <a:r>
              <a:rPr lang="en-US" sz="2100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ashtray, no smoking. Don't ask a client if they mind — request a table in the smoking section if one exists.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1" cy="662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Call Presence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52500" y="1691184"/>
            <a:ext cx="1802130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8A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standards — reframed for a camera.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4520076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1228659" y="4405809"/>
            <a:ext cx="7838892" cy="8487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345"/>
              </a:lnSpc>
              <a:buNone/>
            </a:pPr>
            <a:r>
              <a:rPr lang="en-US" sz="21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on, at eye level. </a:t>
            </a:r>
            <a:r>
              <a:rPr lang="en-US" sz="2100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yourself from chest up, camera roughly eye height.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448767" y="4520076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7" name="Text 5"/>
          <p:cNvSpPr/>
          <p:nvPr/>
        </p:nvSpPr>
        <p:spPr>
          <a:xfrm>
            <a:off x="9724926" y="4405809"/>
            <a:ext cx="7838892" cy="8487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345"/>
              </a:lnSpc>
              <a:buNone/>
            </a:pPr>
            <a:r>
              <a:rPr lang="en-US" sz="21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your face, not your back. </a:t>
            </a:r>
            <a:r>
              <a:rPr lang="en-US" sz="2100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a window or lamp; never sit in front of one.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52500" y="5635460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9" name="Text 7"/>
          <p:cNvSpPr/>
          <p:nvPr/>
        </p:nvSpPr>
        <p:spPr>
          <a:xfrm>
            <a:off x="1228659" y="5521193"/>
            <a:ext cx="7838892" cy="8487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345"/>
              </a:lnSpc>
              <a:buNone/>
            </a:pPr>
            <a:r>
              <a:rPr lang="en-US" sz="21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backgrounds neutral. </a:t>
            </a:r>
            <a:r>
              <a:rPr lang="en-US" sz="2100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 real room or a plain blurred background — no clutter, no distractions.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448767" y="5635460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1" name="Text 9"/>
          <p:cNvSpPr/>
          <p:nvPr/>
        </p:nvSpPr>
        <p:spPr>
          <a:xfrm>
            <a:off x="9724926" y="5521193"/>
            <a:ext cx="7838892" cy="8487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345"/>
              </a:lnSpc>
              <a:buNone/>
            </a:pPr>
            <a:r>
              <a:rPr lang="en-US" sz="21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Mute when not speaking. </a:t>
            </a:r>
            <a:r>
              <a:rPr lang="en-US" sz="2100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Unmute a beat before you talk so the first word isn't lost.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52500" y="6750844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3" name="Text 11"/>
          <p:cNvSpPr/>
          <p:nvPr/>
        </p:nvSpPr>
        <p:spPr>
          <a:xfrm>
            <a:off x="1228659" y="6636577"/>
            <a:ext cx="7838892" cy="8487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345"/>
              </a:lnSpc>
              <a:buNone/>
            </a:pPr>
            <a:r>
              <a:rPr lang="en-US" sz="21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Dress as you would in the room. </a:t>
            </a:r>
            <a:r>
              <a:rPr lang="en-US" sz="2100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see waist-up — dress like it, in case you stand.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448767" y="6750844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5" name="Text 13"/>
          <p:cNvSpPr/>
          <p:nvPr/>
        </p:nvSpPr>
        <p:spPr>
          <a:xfrm>
            <a:off x="9724926" y="6636577"/>
            <a:ext cx="7838892" cy="8487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345"/>
              </a:lnSpc>
              <a:buNone/>
            </a:pPr>
            <a:r>
              <a:rPr lang="en-US" sz="21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two minutes early. </a:t>
            </a:r>
            <a:r>
              <a:rPr lang="en-US" sz="2100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audio and video before the client is waiting on you.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1" cy="662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Meeting-Room Courtesies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52500" y="1691184"/>
            <a:ext cx="1802130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8A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 of the room is remote, the room owes them attention too.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5067929"/>
            <a:ext cx="16383001" cy="10583"/>
          </a:xfrm>
          <a:prstGeom prst="rect">
            <a:avLst/>
          </a:prstGeom>
          <a:solidFill>
            <a:srgbClr val="ECE1D3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4453764"/>
            <a:ext cx="274701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the room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924267" y="4453764"/>
            <a:ext cx="9953807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179"/>
              </a:lnSpc>
              <a:buNone/>
            </a:pPr>
            <a:r>
              <a:rPr lang="en-US" sz="2025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the camera to show everyone present, not just whoever sits closest.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52500" y="5921210"/>
            <a:ext cx="16383001" cy="10583"/>
          </a:xfrm>
          <a:prstGeom prst="rect">
            <a:avLst/>
          </a:prstGeom>
          <a:solidFill>
            <a:srgbClr val="ECE1D3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5307046"/>
            <a:ext cx="274701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conversation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924267" y="5307046"/>
            <a:ext cx="8300509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179"/>
              </a:lnSpc>
              <a:buNone/>
            </a:pPr>
            <a:r>
              <a:rPr lang="en-US" sz="2025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side talk in the room that remote attendees can't hear or join.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52500" y="6774491"/>
            <a:ext cx="16383001" cy="10583"/>
          </a:xfrm>
          <a:prstGeom prst="rect">
            <a:avLst/>
          </a:prstGeom>
          <a:solidFill>
            <a:srgbClr val="ECE1D3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6160327"/>
            <a:ext cx="274701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who's talking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24267" y="6160327"/>
            <a:ext cx="1128023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179"/>
              </a:lnSpc>
              <a:buNone/>
            </a:pPr>
            <a:r>
              <a:rPr lang="en-US" sz="2025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your name before speaking so remote attendees can follow without seeing faces.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952500" y="7013609"/>
            <a:ext cx="274701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0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Actively invite them 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24267" y="7013609"/>
            <a:ext cx="10818929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179"/>
              </a:lnSpc>
              <a:buNone/>
            </a:pPr>
            <a:r>
              <a:rPr lang="en-US" sz="2025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for remote questions — don't let the in-room energy carry the whole meeting.</a:t>
            </a:r>
            <a:endParaRPr lang="en-US" sz="20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55000">
                <a:srgbClr val="C2472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4287501" y="7429501"/>
            <a:ext cx="4953000" cy="4953000"/>
          </a:xfrm>
          <a:prstGeom prst="ellipse">
            <a:avLst/>
          </a:prstGeom>
          <a:gradFill rotWithShape="1">
            <a:gsLst>
              <a:gs pos="0">
                <a:srgbClr val="FFFFFF">
                  <a:alpha val="12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952500" y="3580474"/>
            <a:ext cx="180213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52500" y="4018525"/>
            <a:ext cx="16874491" cy="1714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000" b="1" dirty="0">
                <a:solidFill>
                  <a:srgbClr val="FFF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Clients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52500" y="5923194"/>
            <a:ext cx="9810751" cy="821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BD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clients span the US, the Gulf, and Europe. Respect and security travel across every one of those meetings.</a:t>
            </a:r>
            <a:endParaRPr lang="en-US" sz="2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1" cy="662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Cross-Cultural Client Etiquette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52500" y="1691184"/>
            <a:ext cx="1802130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8A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core respect — different norms to read the room on.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2518668"/>
            <a:ext cx="5232467" cy="6166115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0583">
            <a:solidFill>
              <a:srgbClr val="ECE1D3"/>
            </a:solidFill>
            <a:prstDash val="solid"/>
          </a:ln>
          <a:effectLst>
            <a:outerShdw blurRad="228600" dist="76200" dir="5400000" algn="bl" rotWithShape="0">
              <a:srgbClr val="97271B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44083" y="2910251"/>
            <a:ext cx="48942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gradFill rotWithShape="1">
                  <a:gsLst>
                    <a:gs pos="0">
                      <a:srgbClr val="F39200">
                        <a:alpha val="100000"/>
                      </a:srgbClr>
                    </a:gs>
                    <a:gs pos="100000">
                      <a:srgbClr val="97271B">
                        <a:alpha val="100000"/>
                      </a:srgbClr>
                    </a:gs>
                  </a:gsLst>
                  <a:lin ang="27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United States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44083" y="3348302"/>
            <a:ext cx="4582779" cy="1189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333"/>
              </a:lnSpc>
              <a:buNone/>
            </a:pPr>
            <a:r>
              <a:rPr lang="en-US" sz="1950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communication, first names common once invited, punctuality is strict, small talk brief before business.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527767" y="2518668"/>
            <a:ext cx="5232467" cy="6166115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0583">
            <a:solidFill>
              <a:srgbClr val="ECE1D3"/>
            </a:solidFill>
            <a:prstDash val="solid"/>
          </a:ln>
          <a:effectLst>
            <a:outerShdw blurRad="228600" dist="76200" dir="5400000" algn="bl" rotWithShape="0">
              <a:srgbClr val="97271B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19350" y="2910251"/>
            <a:ext cx="48942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 smtClean="0">
                <a:gradFill rotWithShape="1">
                  <a:gsLst>
                    <a:gs pos="0">
                      <a:srgbClr val="F39200">
                        <a:alpha val="100000"/>
                      </a:srgbClr>
                    </a:gs>
                    <a:gs pos="100000">
                      <a:srgbClr val="97271B">
                        <a:alpha val="100000"/>
                      </a:srgbClr>
                    </a:gs>
                  </a:gsLst>
                  <a:lin ang="27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Egypt &amp; Middle East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919350" y="3348302"/>
            <a:ext cx="4582779" cy="1573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333"/>
              </a:lnSpc>
              <a:buNone/>
            </a:pPr>
            <a:r>
              <a:rPr lang="en-US" sz="1950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 the most senior person first, expect relationship-building before business, right hand for exchanges, modest dress.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103035" y="2518668"/>
            <a:ext cx="5232467" cy="6166115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0583">
            <a:solidFill>
              <a:srgbClr val="ECE1D3"/>
            </a:solidFill>
            <a:prstDash val="solid"/>
          </a:ln>
          <a:effectLst>
            <a:outerShdw blurRad="228600" dist="76200" dir="5400000" algn="bl" rotWithShape="0">
              <a:srgbClr val="97271B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494618" y="2910251"/>
            <a:ext cx="48942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gradFill rotWithShape="1">
                  <a:gsLst>
                    <a:gs pos="0">
                      <a:srgbClr val="F39200">
                        <a:alpha val="100000"/>
                      </a:srgbClr>
                    </a:gs>
                    <a:gs pos="100000">
                      <a:srgbClr val="97271B">
                        <a:alpha val="100000"/>
                      </a:srgbClr>
                    </a:gs>
                  </a:gsLst>
                  <a:lin ang="27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Europe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494618" y="3348302"/>
            <a:ext cx="4582779" cy="1189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333"/>
              </a:lnSpc>
              <a:buNone/>
            </a:pPr>
            <a:r>
              <a:rPr lang="en-US" sz="1950" dirty="0">
                <a:solidFill>
                  <a:srgbClr val="5B4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titles until told otherwise, precise scheduling, understated dress — avoid over-familiarity early on.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52500" y="9027584"/>
            <a:ext cx="1802130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 doubt: default to the more formal option, and let the client set the pace toward casual.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1" cy="662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 &amp; Screen Discipline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52500" y="1691184"/>
            <a:ext cx="1802130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8A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is part of the etiquette too.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5077851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1228659" y="4963584"/>
            <a:ext cx="7838892" cy="8487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345"/>
              </a:lnSpc>
              <a:buNone/>
            </a:pPr>
            <a:r>
              <a:rPr lang="en-US" sz="21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what you don't need open. </a:t>
            </a:r>
            <a:r>
              <a:rPr lang="en-US" sz="2100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screen sharing, quit unrelated tabs, chats, and notifications.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448767" y="5077851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7" name="Text 5"/>
          <p:cNvSpPr/>
          <p:nvPr/>
        </p:nvSpPr>
        <p:spPr>
          <a:xfrm>
            <a:off x="9724926" y="4963584"/>
            <a:ext cx="7838892" cy="8487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345"/>
              </a:lnSpc>
              <a:buNone/>
            </a:pPr>
            <a:r>
              <a:rPr lang="en-US" sz="21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NDA status. </a:t>
            </a:r>
            <a:r>
              <a:rPr lang="en-US" sz="2100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what's covered before sharing another client's work as an example.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52500" y="6193235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9" name="Text 7"/>
          <p:cNvSpPr/>
          <p:nvPr/>
        </p:nvSpPr>
        <p:spPr>
          <a:xfrm>
            <a:off x="1228659" y="6078968"/>
            <a:ext cx="7838892" cy="8487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345"/>
              </a:lnSpc>
              <a:buNone/>
            </a:pPr>
            <a:r>
              <a:rPr lang="en-US" sz="21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your device. </a:t>
            </a:r>
            <a:r>
              <a:rPr lang="en-US" sz="2100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leave a laptop open and unattended in a client's office.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448767" y="6193235"/>
            <a:ext cx="85659" cy="85659"/>
          </a:xfrm>
          <a:prstGeom prst="ellipse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1" name="Text 9"/>
          <p:cNvSpPr/>
          <p:nvPr/>
        </p:nvSpPr>
        <p:spPr>
          <a:xfrm>
            <a:off x="9724926" y="6078968"/>
            <a:ext cx="7838892" cy="8487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345"/>
              </a:lnSpc>
              <a:buNone/>
            </a:pPr>
            <a:r>
              <a:rPr lang="en-US" sz="21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only with consent. </a:t>
            </a:r>
            <a:r>
              <a:rPr lang="en-US" sz="2100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before recording or transcribing any client call.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1" cy="662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Finally, Take Care </a:t>
            </a:r>
            <a:r>
              <a:rPr lang="en-US" sz="4200" b="1" dirty="0" smtClean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r>
              <a:rPr lang="en-US" sz="4200" b="1" dirty="0" smtClean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200" b="1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52500" y="5251814"/>
            <a:ext cx="7886734" cy="10583"/>
          </a:xfrm>
          <a:prstGeom prst="rect">
            <a:avLst/>
          </a:prstGeom>
          <a:solidFill>
            <a:srgbClr val="ECE1D3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4674692"/>
            <a:ext cx="8123336" cy="42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71"/>
              </a:lnSpc>
              <a:buNone/>
            </a:pPr>
            <a:r>
              <a:rPr lang="en-US" sz="2175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negative attitudes or criticize others in public.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448767" y="5251814"/>
            <a:ext cx="7886734" cy="10583"/>
          </a:xfrm>
          <a:prstGeom prst="rect">
            <a:avLst/>
          </a:prstGeom>
          <a:solidFill>
            <a:srgbClr val="ECE1D3"/>
          </a:solidFill>
          <a:ln/>
        </p:spPr>
      </p:sp>
      <p:sp>
        <p:nvSpPr>
          <p:cNvPr id="6" name="Text 4"/>
          <p:cNvSpPr/>
          <p:nvPr/>
        </p:nvSpPr>
        <p:spPr>
          <a:xfrm>
            <a:off x="9448767" y="4674692"/>
            <a:ext cx="8123336" cy="42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71"/>
              </a:lnSpc>
              <a:buNone/>
            </a:pPr>
            <a:r>
              <a:rPr lang="en-US" sz="2175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 inappropriate clothing for the setting.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952500" y="6068054"/>
            <a:ext cx="7886734" cy="10583"/>
          </a:xfrm>
          <a:prstGeom prst="rect">
            <a:avLst/>
          </a:prstGeom>
          <a:solidFill>
            <a:srgbClr val="ECE1D3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5490931"/>
            <a:ext cx="8123336" cy="42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71"/>
              </a:lnSpc>
              <a:buNone/>
            </a:pPr>
            <a:r>
              <a:rPr lang="en-US" sz="2175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to make introductions or disregard social courtesies.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448767" y="6068054"/>
            <a:ext cx="7886734" cy="10583"/>
          </a:xfrm>
          <a:prstGeom prst="rect">
            <a:avLst/>
          </a:prstGeom>
          <a:solidFill>
            <a:srgbClr val="ECE1D3"/>
          </a:solidFill>
          <a:ln/>
        </p:spPr>
      </p:sp>
      <p:sp>
        <p:nvSpPr>
          <p:cNvPr id="10" name="Text 8"/>
          <p:cNvSpPr/>
          <p:nvPr/>
        </p:nvSpPr>
        <p:spPr>
          <a:xfrm>
            <a:off x="9448767" y="5490931"/>
            <a:ext cx="8123336" cy="42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71"/>
              </a:lnSpc>
              <a:buNone/>
            </a:pPr>
            <a:r>
              <a:rPr lang="en-US" sz="2175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people wait without explanation.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52500" y="6307171"/>
            <a:ext cx="8675407" cy="42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71"/>
              </a:lnSpc>
              <a:buNone/>
            </a:pPr>
            <a:r>
              <a:rPr lang="en-US" sz="2175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Mispronounce or forget a client's name.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9448767" y="6307171"/>
            <a:ext cx="8675407" cy="42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71"/>
              </a:lnSpc>
              <a:buNone/>
            </a:pPr>
            <a:r>
              <a:rPr lang="en-US" sz="2175" dirty="0">
                <a:solidFill>
                  <a:srgbClr val="241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vulgar or inappropriate language.</a:t>
            </a:r>
            <a:endParaRPr lang="en-US" sz="21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F39200">
                  <a:alpha val="100000"/>
                </a:srgbClr>
              </a:gs>
              <a:gs pos="55000">
                <a:srgbClr val="C24720">
                  <a:alpha val="100000"/>
                </a:srgbClr>
              </a:gs>
              <a:gs pos="100000">
                <a:srgbClr val="97271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4097001" y="-2286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FFFFFF">
                  <a:alpha val="12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952500" y="952500"/>
            <a:ext cx="1802130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F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SHORT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418167"/>
            <a:ext cx="18021301" cy="738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778"/>
              </a:lnSpc>
              <a:buNone/>
            </a:pPr>
            <a:r>
              <a:rPr lang="en-US" sz="4800" b="1" dirty="0">
                <a:solidFill>
                  <a:srgbClr val="FFF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Prepare. Present. Protect.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52500" y="4938944"/>
            <a:ext cx="5310921" cy="819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179"/>
              </a:lnSpc>
              <a:buNone/>
            </a:pPr>
            <a:r>
              <a:rPr lang="en-US" sz="2025" b="1" dirty="0">
                <a:solidFill>
                  <a:srgbClr val="FFF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</a:t>
            </a:r>
            <a:r>
              <a:rPr lang="en-US" sz="2025" dirty="0">
                <a:solidFill>
                  <a:srgbClr val="FBD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agenda, moderator, and dress code set before anyone joins.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6565801" y="4938944"/>
            <a:ext cx="5310921" cy="819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179"/>
              </a:lnSpc>
              <a:buNone/>
            </a:pPr>
            <a:r>
              <a:rPr lang="en-US" sz="2025" b="1" dirty="0">
                <a:solidFill>
                  <a:srgbClr val="FFF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</a:t>
            </a:r>
            <a:r>
              <a:rPr lang="en-US" sz="2025" dirty="0">
                <a:solidFill>
                  <a:srgbClr val="FBD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same standard in the room and on camera.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2179102" y="4938944"/>
            <a:ext cx="5311091" cy="819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179"/>
              </a:lnSpc>
              <a:buNone/>
            </a:pPr>
            <a:r>
              <a:rPr lang="en-US" sz="2025" b="1" dirty="0">
                <a:solidFill>
                  <a:srgbClr val="FFF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</a:t>
            </a:r>
            <a:r>
              <a:rPr lang="en-US" sz="2025" dirty="0">
                <a:solidFill>
                  <a:srgbClr val="FBD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 trust, confidentiality, and their time.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952500" y="8540750"/>
            <a:ext cx="3731700" cy="831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5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4388" y="8728109"/>
            <a:ext cx="811113" cy="4190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1534</Words>
  <Application>Microsoft Office PowerPoint</Application>
  <PresentationFormat>Custom</PresentationFormat>
  <Paragraphs>191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Mary</cp:lastModifiedBy>
  <cp:revision>3</cp:revision>
  <dcterms:created xsi:type="dcterms:W3CDTF">2026-07-20T20:10:13Z</dcterms:created>
  <dcterms:modified xsi:type="dcterms:W3CDTF">2026-07-20T20:24:18Z</dcterms:modified>
</cp:coreProperties>
</file>